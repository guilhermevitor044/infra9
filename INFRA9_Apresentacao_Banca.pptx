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6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RA9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65105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8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INFRA9  ·  ODS 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1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image" Target="../media/image12.svg"/><Relationship Id="rId4" Type="http://schemas.openxmlformats.org/officeDocument/2006/relationships/image" Target="../media/image8.svg"/><Relationship Id="rId9" Type="http://schemas.openxmlformats.org/officeDocument/2006/relationships/image" Target="../media/image11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7.png"/><Relationship Id="rId5" Type="http://schemas.openxmlformats.org/officeDocument/2006/relationships/image" Target="../media/image32.png"/><Relationship Id="rId10" Type="http://schemas.openxmlformats.org/officeDocument/2006/relationships/image" Target="../media/image35.svg"/><Relationship Id="rId4" Type="http://schemas.openxmlformats.org/officeDocument/2006/relationships/image" Target="../media/image2.sv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11" Type="http://schemas.openxmlformats.org/officeDocument/2006/relationships/image" Target="../media/image11.png"/><Relationship Id="rId5" Type="http://schemas.openxmlformats.org/officeDocument/2006/relationships/image" Target="../media/image36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Relationship Id="rId1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 SE A TECNOLOGIA PARASSE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667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47A2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JUSTAMENTE QUANDO MAIS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47A2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PRECISAMOS DELA?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5216" y="2313432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de crise: a demanda cresce, a infraestrutura é pressionada e o acesso digital deixa de ser garantido.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040880" y="658368"/>
            <a:ext cx="0" cy="3794760"/>
          </a:xfrm>
          <a:prstGeom prst="line">
            <a:avLst/>
          </a:prstGeom>
          <a:noFill/>
          <a:ln w="15240">
            <a:solidFill>
              <a:srgbClr val="233A4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8584" y="822960"/>
            <a:ext cx="164592" cy="164592"/>
          </a:xfrm>
          <a:prstGeom prst="ellipse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88352" y="65836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+80%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942832" y="69494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tráfego em 3 semanas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958584" y="1746504"/>
            <a:ext cx="164592" cy="164592"/>
          </a:xfrm>
          <a:prstGeom prst="ellipse">
            <a:avLst/>
          </a:prstGeom>
          <a:solidFill>
            <a:srgbClr val="263F50"/>
          </a:solidFill>
          <a:ln w="12700">
            <a:solidFill>
              <a:srgbClr val="263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88352" y="158191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12%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942832" y="161848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essenciais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indisponíveis no pico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958584" y="2807208"/>
            <a:ext cx="164592" cy="164592"/>
          </a:xfrm>
          <a:prstGeom prst="ellipse">
            <a:avLst/>
          </a:prstGeom>
          <a:solidFill>
            <a:srgbClr val="263F50"/>
          </a:solidFill>
          <a:ln w="12700">
            <a:solidFill>
              <a:srgbClr val="263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264261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40%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942832" y="267919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bairros periféricos com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conectividade insuficiente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958584" y="3858768"/>
            <a:ext cx="164592" cy="164592"/>
          </a:xfrm>
          <a:prstGeom prst="ellipse">
            <a:avLst/>
          </a:prstGeom>
          <a:solidFill>
            <a:srgbClr val="263F50"/>
          </a:solidFill>
          <a:ln w="12700">
            <a:solidFill>
              <a:srgbClr val="263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369417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EM 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942832" y="373075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negócios sem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presença digital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566928" y="3858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4000" b="1" kern="0" spc="140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INFRA9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85216" y="4453128"/>
            <a:ext cx="3364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aguenta.</a:t>
            </a:r>
            <a:endParaRPr lang="en-US" sz="1750" dirty="0"/>
          </a:p>
          <a:p>
            <a:pPr marL="0" indent="0" algn="l">
              <a:buNone/>
            </a:pPr>
            <a:r>
              <a:rPr lang="en-US" sz="17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população acessa.</a:t>
            </a:r>
            <a:endParaRPr lang="en-US" sz="1750" dirty="0"/>
          </a:p>
          <a:p>
            <a:pPr marL="0" indent="0" algn="l">
              <a:buNone/>
            </a:pPr>
            <a:r>
              <a:rPr lang="en-US" sz="17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comércio continua.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4078224" y="4069080"/>
            <a:ext cx="0" cy="1307592"/>
          </a:xfrm>
          <a:prstGeom prst="line">
            <a:avLst/>
          </a:prstGeom>
          <a:noFill/>
          <a:ln w="1270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370832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ODS 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70832" y="429768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42976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resiliente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370832" y="48006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48006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às tecnologias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informação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370832" y="530352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530352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negócios e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aos mercados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281160" y="5797296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0B1724"/>
          </a:solidFill>
          <a:ln w="8890">
            <a:solidFill>
              <a:srgbClr val="274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57972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ACADÊMICA · ODS 9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66928" y="629107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PERTINÊNCIA AO ODS 9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VIABILIDADE · FRENTE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SISTEMA AGUENTA.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preparada para o pico.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566928" cy="566928"/>
          </a:xfrm>
          <a:prstGeom prst="ellipse">
            <a:avLst/>
          </a:prstGeom>
          <a:solidFill>
            <a:srgbClr val="142738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52" y="2011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80160" y="2157984"/>
            <a:ext cx="1078992" cy="0"/>
          </a:xfrm>
          <a:prstGeom prst="line">
            <a:avLst/>
          </a:prstGeom>
          <a:noFill/>
          <a:ln w="1524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78024" y="1874520"/>
            <a:ext cx="566928" cy="566928"/>
          </a:xfrm>
          <a:prstGeom prst="ellipse">
            <a:avLst/>
          </a:prstGeom>
          <a:solidFill>
            <a:srgbClr val="142738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5184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21992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ENTRADA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36392" y="2157984"/>
            <a:ext cx="1078992" cy="0"/>
          </a:xfrm>
          <a:prstGeom prst="line">
            <a:avLst/>
          </a:prstGeom>
          <a:noFill/>
          <a:ln w="1524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34256" y="1874520"/>
            <a:ext cx="566928" cy="566928"/>
          </a:xfrm>
          <a:prstGeom prst="ellipse">
            <a:avLst/>
          </a:prstGeom>
          <a:solidFill>
            <a:srgbClr val="142738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1416" y="20116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78224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992624" y="2157984"/>
            <a:ext cx="1078992" cy="0"/>
          </a:xfrm>
          <a:prstGeom prst="line">
            <a:avLst/>
          </a:prstGeom>
          <a:noFill/>
          <a:ln w="1524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190488" y="1874520"/>
            <a:ext cx="566928" cy="566928"/>
          </a:xfrm>
          <a:prstGeom prst="ellipse">
            <a:avLst/>
          </a:prstGeom>
          <a:solidFill>
            <a:srgbClr val="142738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7648" y="201168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34456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ORGANIZADA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848856" y="2157984"/>
            <a:ext cx="1078992" cy="0"/>
          </a:xfrm>
          <a:prstGeom prst="line">
            <a:avLst/>
          </a:prstGeom>
          <a:noFill/>
          <a:ln w="1524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8046720" y="1874520"/>
            <a:ext cx="566928" cy="566928"/>
          </a:xfrm>
          <a:prstGeom prst="ellipse">
            <a:avLst/>
          </a:prstGeom>
          <a:solidFill>
            <a:srgbClr val="142738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880" y="201168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90688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705088" y="2157984"/>
            <a:ext cx="1078992" cy="0"/>
          </a:xfrm>
          <a:prstGeom prst="line">
            <a:avLst/>
          </a:prstGeom>
          <a:noFill/>
          <a:ln w="1524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9902952" y="1874520"/>
            <a:ext cx="566928" cy="566928"/>
          </a:xfrm>
          <a:prstGeom prst="ellipse">
            <a:avLst/>
          </a:prstGeom>
          <a:solidFill>
            <a:srgbClr val="F47A21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0112" y="2011680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46920" y="2560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DISPONÍVEL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58368" y="3401568"/>
            <a:ext cx="7059168" cy="1947672"/>
          </a:xfrm>
          <a:prstGeom prst="roundRect">
            <a:avLst>
              <a:gd name="adj" fmla="val 4695"/>
            </a:avLst>
          </a:prstGeom>
          <a:solidFill>
            <a:srgbClr val="0E1C2A"/>
          </a:solidFill>
          <a:ln w="10160">
            <a:solidFill>
              <a:srgbClr val="233C4D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96112" y="3602736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A FILA CRESCE, NOVOS “CAIXAS DIGITAIS” ENTRAM EM OPERAÇÃO.</a:t>
            </a:r>
            <a:endParaRPr lang="en-US" sz="1320" dirty="0"/>
          </a:p>
        </p:txBody>
      </p:sp>
      <p:sp>
        <p:nvSpPr>
          <p:cNvPr id="31" name="Text 23"/>
          <p:cNvSpPr/>
          <p:nvPr/>
        </p:nvSpPr>
        <p:spPr>
          <a:xfrm>
            <a:off x="914400" y="40782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inicial</a:t>
            </a:r>
            <a:endParaRPr lang="en-US" sz="920" dirty="0"/>
          </a:p>
        </p:txBody>
      </p:sp>
      <p:sp>
        <p:nvSpPr>
          <p:cNvPr id="32" name="Shape 24"/>
          <p:cNvSpPr/>
          <p:nvPr/>
        </p:nvSpPr>
        <p:spPr>
          <a:xfrm>
            <a:off x="941832" y="4370832"/>
            <a:ext cx="438912" cy="548640"/>
          </a:xfrm>
          <a:prstGeom prst="roundRect">
            <a:avLst>
              <a:gd name="adj" fmla="val 8333"/>
            </a:avLst>
          </a:prstGeom>
          <a:solidFill>
            <a:srgbClr val="132738"/>
          </a:solidFill>
          <a:ln w="10160">
            <a:solidFill>
              <a:srgbClr val="365367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4128" y="4480560"/>
            <a:ext cx="274320" cy="27432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1527048" y="4370832"/>
            <a:ext cx="438912" cy="548640"/>
          </a:xfrm>
          <a:prstGeom prst="roundRect">
            <a:avLst>
              <a:gd name="adj" fmla="val 8333"/>
            </a:avLst>
          </a:prstGeom>
          <a:solidFill>
            <a:srgbClr val="132738"/>
          </a:solidFill>
          <a:ln w="10160">
            <a:solidFill>
              <a:srgbClr val="365367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09344" y="448056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304288" y="427939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3400" dirty="0"/>
          </a:p>
        </p:txBody>
      </p:sp>
      <p:sp>
        <p:nvSpPr>
          <p:cNvPr id="37" name="Shape 27"/>
          <p:cNvSpPr/>
          <p:nvPr/>
        </p:nvSpPr>
        <p:spPr>
          <a:xfrm>
            <a:off x="2834640" y="4590288"/>
            <a:ext cx="777240" cy="0"/>
          </a:xfrm>
          <a:prstGeom prst="line">
            <a:avLst/>
          </a:prstGeom>
          <a:noFill/>
          <a:ln w="27940">
            <a:solidFill>
              <a:srgbClr val="F47A21"/>
            </a:solidFill>
            <a:prstDash val="solid"/>
            <a:headEnd type="none"/>
            <a:tailEnd type="triangle"/>
          </a:ln>
        </p:spPr>
      </p:sp>
      <p:sp>
        <p:nvSpPr>
          <p:cNvPr id="38" name="Text 28"/>
          <p:cNvSpPr/>
          <p:nvPr/>
        </p:nvSpPr>
        <p:spPr>
          <a:xfrm>
            <a:off x="2926080" y="4224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 sobe</a:t>
            </a:r>
            <a:endParaRPr lang="en-US" sz="880" dirty="0"/>
          </a:p>
        </p:txBody>
      </p:sp>
      <p:sp>
        <p:nvSpPr>
          <p:cNvPr id="39" name="Shape 29"/>
          <p:cNvSpPr/>
          <p:nvPr/>
        </p:nvSpPr>
        <p:spPr>
          <a:xfrm>
            <a:off x="3858768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83042"/>
          </a:solidFill>
          <a:ln w="10160">
            <a:solidFill>
              <a:srgbClr val="456177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13632" y="4507992"/>
            <a:ext cx="228600" cy="228600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325112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83042"/>
          </a:solidFill>
          <a:ln w="10160">
            <a:solidFill>
              <a:srgbClr val="456177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79976" y="4507992"/>
            <a:ext cx="228600" cy="228600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4791456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A2936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6320" y="4507992"/>
            <a:ext cx="228600" cy="22860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257800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A2936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2664" y="4507992"/>
            <a:ext cx="228600" cy="228600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5724144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A2936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9008" y="4507992"/>
            <a:ext cx="228600" cy="228600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6190488" y="4370832"/>
            <a:ext cx="347472" cy="548640"/>
          </a:xfrm>
          <a:prstGeom prst="roundRect">
            <a:avLst>
              <a:gd name="adj" fmla="val 10526"/>
            </a:avLst>
          </a:prstGeom>
          <a:solidFill>
            <a:srgbClr val="1A2936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5352" y="4507992"/>
            <a:ext cx="228600" cy="22860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793992" y="427939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7A2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3400" dirty="0"/>
          </a:p>
        </p:txBody>
      </p:sp>
      <p:sp>
        <p:nvSpPr>
          <p:cNvPr id="52" name="Text 36"/>
          <p:cNvSpPr/>
          <p:nvPr/>
        </p:nvSpPr>
        <p:spPr>
          <a:xfrm>
            <a:off x="6217920" y="4965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aumentada</a:t>
            </a:r>
            <a:endParaRPr lang="en-US" sz="920" dirty="0"/>
          </a:p>
        </p:txBody>
      </p:sp>
      <p:sp>
        <p:nvSpPr>
          <p:cNvPr id="53" name="Shape 37"/>
          <p:cNvSpPr/>
          <p:nvPr/>
        </p:nvSpPr>
        <p:spPr>
          <a:xfrm>
            <a:off x="8010144" y="3401568"/>
            <a:ext cx="3493008" cy="1947672"/>
          </a:xfrm>
          <a:prstGeom prst="roundRect">
            <a:avLst>
              <a:gd name="adj" fmla="val 4695"/>
            </a:avLst>
          </a:prstGeom>
          <a:solidFill>
            <a:srgbClr val="0A1922"/>
          </a:solidFill>
          <a:ln w="10160">
            <a:solidFill>
              <a:srgbClr val="284455"/>
            </a:solidFill>
            <a:prstDash val="solid"/>
          </a:ln>
        </p:spPr>
      </p:sp>
      <p:sp>
        <p:nvSpPr>
          <p:cNvPr id="54" name="Text 38"/>
          <p:cNvSpPr/>
          <p:nvPr/>
        </p:nvSpPr>
        <p:spPr>
          <a:xfrm>
            <a:off x="8257032" y="362102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FAIXA RESERVADA</a:t>
            </a:r>
            <a:endParaRPr lang="en-US" sz="950" dirty="0"/>
          </a:p>
        </p:txBody>
      </p:sp>
      <p:sp>
        <p:nvSpPr>
          <p:cNvPr id="55" name="Text 39"/>
          <p:cNvSpPr/>
          <p:nvPr/>
        </p:nvSpPr>
        <p:spPr>
          <a:xfrm>
            <a:off x="8257032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preservada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serviços essenciais.</a:t>
            </a:r>
            <a:endParaRPr lang="en-US" sz="15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75320" y="4617720"/>
            <a:ext cx="384048" cy="384048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8741664" y="46542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</a:t>
            </a:r>
            <a:endParaRPr lang="en-US" sz="105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0928" y="4617720"/>
            <a:ext cx="384048" cy="384048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10177272" y="4654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60" name="Text 42"/>
          <p:cNvSpPr/>
          <p:nvPr/>
        </p:nvSpPr>
        <p:spPr>
          <a:xfrm>
            <a:off x="676656" y="565099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“Não reconstruímos o sistema. Tornamos o que já existe mais resiliente.”</a:t>
            </a:r>
            <a:endParaRPr lang="en-US" sz="1650" dirty="0"/>
          </a:p>
        </p:txBody>
      </p:sp>
      <p:sp>
        <p:nvSpPr>
          <p:cNvPr id="61" name="Shape 43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62" name="Text 44"/>
          <p:cNvSpPr/>
          <p:nvPr/>
        </p:nvSpPr>
        <p:spPr>
          <a:xfrm>
            <a:off x="566928" y="629107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VIABILIDADE TÉCNICA</a:t>
            </a:r>
            <a:endParaRPr lang="en-US" sz="105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VIABILIDADE · FRENTE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 SE O PROBLEMA NÃO ESTIVER NO SERVIDOR?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se a internet do bairro cair?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28032" y="1993392"/>
            <a:ext cx="2542032" cy="2359152"/>
          </a:xfrm>
          <a:prstGeom prst="roundRect">
            <a:avLst>
              <a:gd name="adj" fmla="val 5426"/>
            </a:avLst>
          </a:prstGeom>
          <a:solidFill>
            <a:srgbClr val="101F2C"/>
          </a:solidFill>
          <a:ln w="10160">
            <a:solidFill>
              <a:srgbClr val="F47A21"/>
            </a:solidFill>
            <a:prstDash val="solid"/>
          </a:ln>
          <a:effectLst>
            <a:outerShdw blurRad="25400" dist="12700" dir="2700000" algn="bl" rotWithShape="0">
              <a:srgbClr val="000000">
                <a:alpha val="24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848" y="2350008"/>
            <a:ext cx="841248" cy="841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5504" y="33101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EDGEBOX INFRA9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5111496" y="367588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pequeno posto digital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contingência.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658368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59C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1947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NORMAL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804672" y="2606040"/>
            <a:ext cx="585216" cy="585216"/>
          </a:xfrm>
          <a:prstGeom prst="ellipse">
            <a:avLst/>
          </a:prstGeom>
          <a:solidFill>
            <a:srgbClr val="102535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76" y="27523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" y="327355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PESSOA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1463040" y="2898648"/>
            <a:ext cx="512064" cy="0"/>
          </a:xfrm>
          <a:prstGeom prst="line">
            <a:avLst/>
          </a:prstGeom>
          <a:noFill/>
          <a:ln w="15240">
            <a:solidFill>
              <a:srgbClr val="496070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084832" y="2606040"/>
            <a:ext cx="585216" cy="585216"/>
          </a:xfrm>
          <a:prstGeom prst="ellipse">
            <a:avLst/>
          </a:prstGeom>
          <a:solidFill>
            <a:srgbClr val="102535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1136" y="275234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56232" y="327355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2743200" y="2898648"/>
            <a:ext cx="603504" cy="0"/>
          </a:xfrm>
          <a:prstGeom prst="line">
            <a:avLst/>
          </a:prstGeom>
          <a:noFill/>
          <a:ln w="15240">
            <a:solidFill>
              <a:srgbClr val="496070"/>
            </a:solidFill>
            <a:prstDash val="solid"/>
            <a:headEnd type="none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456432" y="2606040"/>
            <a:ext cx="585216" cy="585216"/>
          </a:xfrm>
          <a:prstGeom prst="ellipse">
            <a:avLst/>
          </a:prstGeom>
          <a:solidFill>
            <a:srgbClr val="102535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2736" y="275234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27832" y="327355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INFRA9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</a:t>
            </a:r>
            <a:endParaRPr lang="en-US" sz="970" dirty="0"/>
          </a:p>
        </p:txBody>
      </p:sp>
      <p:sp>
        <p:nvSpPr>
          <p:cNvPr id="23" name="Text 17"/>
          <p:cNvSpPr/>
          <p:nvPr/>
        </p:nvSpPr>
        <p:spPr>
          <a:xfrm>
            <a:off x="7845552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2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845552" y="1947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EXTERNA INDISPONÍVEL</a:t>
            </a:r>
            <a:endParaRPr lang="en-US" sz="1540" dirty="0"/>
          </a:p>
        </p:txBody>
      </p:sp>
      <p:sp>
        <p:nvSpPr>
          <p:cNvPr id="25" name="Shape 19"/>
          <p:cNvSpPr/>
          <p:nvPr/>
        </p:nvSpPr>
        <p:spPr>
          <a:xfrm>
            <a:off x="7845552" y="2478024"/>
            <a:ext cx="3273552" cy="932688"/>
          </a:xfrm>
          <a:prstGeom prst="roundRect">
            <a:avLst>
              <a:gd name="adj" fmla="val 7843"/>
            </a:avLst>
          </a:prstGeom>
          <a:solidFill>
            <a:srgbClr val="0D1B27"/>
          </a:solidFill>
          <a:ln w="10160">
            <a:solidFill>
              <a:srgbClr val="274252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5008" y="267919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95360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BEATRIZ</a:t>
            </a:r>
            <a:endParaRPr lang="en-US" sz="1220" dirty="0"/>
          </a:p>
        </p:txBody>
      </p:sp>
      <p:sp>
        <p:nvSpPr>
          <p:cNvPr id="28" name="Text 21"/>
          <p:cNvSpPr/>
          <p:nvPr/>
        </p:nvSpPr>
        <p:spPr>
          <a:xfrm>
            <a:off x="8595360" y="286207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enfermeira · atendimento continua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7900416" y="3730752"/>
            <a:ext cx="448056" cy="448056"/>
          </a:xfrm>
          <a:prstGeom prst="ellipse">
            <a:avLst/>
          </a:prstGeom>
          <a:solidFill>
            <a:srgbClr val="112637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05572" y="383590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08976" y="42611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local</a:t>
            </a:r>
            <a:endParaRPr lang="en-US" sz="810" dirty="0"/>
          </a:p>
        </p:txBody>
      </p:sp>
      <p:sp>
        <p:nvSpPr>
          <p:cNvPr id="32" name="Shape 24"/>
          <p:cNvSpPr/>
          <p:nvPr/>
        </p:nvSpPr>
        <p:spPr>
          <a:xfrm>
            <a:off x="8394192" y="3959352"/>
            <a:ext cx="310896" cy="0"/>
          </a:xfrm>
          <a:prstGeom prst="line">
            <a:avLst/>
          </a:prstGeom>
          <a:noFill/>
          <a:ln w="1270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8769096" y="3730752"/>
            <a:ext cx="448056" cy="448056"/>
          </a:xfrm>
          <a:prstGeom prst="ellipse">
            <a:avLst/>
          </a:prstGeom>
          <a:solidFill>
            <a:srgbClr val="2B1D12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4252" y="383590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77656" y="42611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local</a:t>
            </a:r>
            <a:endParaRPr lang="en-US" sz="810" dirty="0"/>
          </a:p>
        </p:txBody>
      </p:sp>
      <p:sp>
        <p:nvSpPr>
          <p:cNvPr id="36" name="Shape 27"/>
          <p:cNvSpPr/>
          <p:nvPr/>
        </p:nvSpPr>
        <p:spPr>
          <a:xfrm>
            <a:off x="9262872" y="3959352"/>
            <a:ext cx="310896" cy="0"/>
          </a:xfrm>
          <a:prstGeom prst="line">
            <a:avLst/>
          </a:prstGeom>
          <a:noFill/>
          <a:ln w="1270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9637776" y="3730752"/>
            <a:ext cx="448056" cy="448056"/>
          </a:xfrm>
          <a:prstGeom prst="ellipse">
            <a:avLst/>
          </a:prstGeom>
          <a:solidFill>
            <a:srgbClr val="112637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42932" y="383590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546336" y="42611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conexão retorna</a:t>
            </a:r>
            <a:endParaRPr lang="en-US" sz="810" dirty="0"/>
          </a:p>
        </p:txBody>
      </p:sp>
      <p:sp>
        <p:nvSpPr>
          <p:cNvPr id="40" name="Shape 30"/>
          <p:cNvSpPr/>
          <p:nvPr/>
        </p:nvSpPr>
        <p:spPr>
          <a:xfrm>
            <a:off x="10131552" y="3959352"/>
            <a:ext cx="310896" cy="0"/>
          </a:xfrm>
          <a:prstGeom prst="line">
            <a:avLst/>
          </a:prstGeom>
          <a:noFill/>
          <a:ln w="12700">
            <a:solidFill>
              <a:srgbClr val="4B6576"/>
            </a:solidFill>
            <a:prstDash val="solid"/>
            <a:headEnd type="none"/>
            <a:tailEnd type="triangle"/>
          </a:ln>
        </p:spPr>
      </p:sp>
      <p:sp>
        <p:nvSpPr>
          <p:cNvPr id="41" name="Shape 31"/>
          <p:cNvSpPr/>
          <p:nvPr/>
        </p:nvSpPr>
        <p:spPr>
          <a:xfrm>
            <a:off x="10506456" y="3730752"/>
            <a:ext cx="448056" cy="448056"/>
          </a:xfrm>
          <a:prstGeom prst="ellipse">
            <a:avLst/>
          </a:prstGeom>
          <a:solidFill>
            <a:srgbClr val="112637"/>
          </a:solidFill>
          <a:ln w="10160">
            <a:solidFill>
              <a:srgbClr val="274052"/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11612" y="3835908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415016" y="42611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</a:t>
            </a:r>
            <a:endParaRPr lang="en-US" sz="810" dirty="0"/>
          </a:p>
        </p:txBody>
      </p:sp>
      <p:sp>
        <p:nvSpPr>
          <p:cNvPr id="44" name="Shape 33"/>
          <p:cNvSpPr/>
          <p:nvPr/>
        </p:nvSpPr>
        <p:spPr>
          <a:xfrm>
            <a:off x="7388352" y="3172968"/>
            <a:ext cx="429768" cy="0"/>
          </a:xfrm>
          <a:prstGeom prst="line">
            <a:avLst/>
          </a:prstGeom>
          <a:noFill/>
          <a:ln w="22860">
            <a:solidFill>
              <a:srgbClr val="F47A21"/>
            </a:solidFill>
            <a:prstDash val="solid"/>
            <a:headEnd type="none"/>
            <a:tailEnd type="triangle"/>
          </a:ln>
        </p:spPr>
      </p:sp>
      <p:sp>
        <p:nvSpPr>
          <p:cNvPr id="45" name="Shape 34"/>
          <p:cNvSpPr/>
          <p:nvPr/>
        </p:nvSpPr>
        <p:spPr>
          <a:xfrm>
            <a:off x="658368" y="4745736"/>
            <a:ext cx="10826496" cy="841248"/>
          </a:xfrm>
          <a:prstGeom prst="roundRect">
            <a:avLst>
              <a:gd name="adj" fmla="val 8696"/>
            </a:avLst>
          </a:prstGeom>
          <a:solidFill>
            <a:srgbClr val="0B1924"/>
          </a:solidFill>
          <a:ln w="10160">
            <a:solidFill>
              <a:srgbClr val="223D4F"/>
            </a:solidFill>
            <a:prstDash val="solid"/>
          </a:ln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6112" y="4974336"/>
            <a:ext cx="384048" cy="38404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389888" y="48920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JORGE · PEQUENO COMERCIANTE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1389888" y="51755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 ·  pedidos  ·  retirada  ·  página leve</a:t>
            </a:r>
            <a:endParaRPr lang="en-US" sz="1030" dirty="0"/>
          </a:p>
        </p:txBody>
      </p:sp>
      <p:sp>
        <p:nvSpPr>
          <p:cNvPr id="49" name="Shape 37"/>
          <p:cNvSpPr/>
          <p:nvPr/>
        </p:nvSpPr>
        <p:spPr>
          <a:xfrm>
            <a:off x="5102352" y="4901184"/>
            <a:ext cx="0" cy="411480"/>
          </a:xfrm>
          <a:prstGeom prst="line">
            <a:avLst/>
          </a:prstGeom>
          <a:noFill/>
          <a:ln w="1270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50" name="Text 38"/>
          <p:cNvSpPr/>
          <p:nvPr/>
        </p:nvSpPr>
        <p:spPr>
          <a:xfrm>
            <a:off x="5413248" y="4892040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mesma infraestrutura regional apoia serviços essenciais e ajuda a manter a economia local.</a:t>
            </a:r>
            <a:endParaRPr lang="en-US" sz="1220" dirty="0"/>
          </a:p>
        </p:txBody>
      </p:sp>
      <p:sp>
        <p:nvSpPr>
          <p:cNvPr id="51" name="Text 39"/>
          <p:cNvSpPr/>
          <p:nvPr/>
        </p:nvSpPr>
        <p:spPr>
          <a:xfrm>
            <a:off x="658368" y="57698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 internet caiu. A operação não precisa parar.”</a:t>
            </a:r>
            <a:endParaRPr lang="en-US" sz="1720" dirty="0"/>
          </a:p>
        </p:txBody>
      </p:sp>
      <p:sp>
        <p:nvSpPr>
          <p:cNvPr id="52" name="Shape 40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53" name="Text 41"/>
          <p:cNvSpPr/>
          <p:nvPr/>
        </p:nvSpPr>
        <p:spPr>
          <a:xfrm>
            <a:off x="566928" y="629107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VIABILIDADE TÉCNICA</a:t>
            </a:r>
            <a:endParaRPr lang="en-US" sz="105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INFRA9 NÃO ESPERA A QUEDA.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 identifica sinais de degradação e prepara a contingência.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767328" cy="3977640"/>
          </a:xfrm>
          <a:prstGeom prst="roundRect">
            <a:avLst>
              <a:gd name="adj" fmla="val 2670"/>
            </a:avLst>
          </a:prstGeom>
          <a:solidFill>
            <a:srgbClr val="0E1C2A"/>
          </a:solidFill>
          <a:ln w="10160">
            <a:solidFill>
              <a:srgbClr val="22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02536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27632" y="2039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7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DE CONECTIVIDADE REGIONAL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23544" y="23957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“Termômetro digital da região”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2953512"/>
            <a:ext cx="0" cy="2057400"/>
          </a:xfrm>
          <a:prstGeom prst="line">
            <a:avLst/>
          </a:prstGeom>
          <a:noFill/>
          <a:ln w="63500">
            <a:solidFill>
              <a:srgbClr val="35516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06424" y="2834640"/>
            <a:ext cx="347472" cy="347472"/>
          </a:xfrm>
          <a:prstGeom prst="ellipse">
            <a:avLst/>
          </a:prstGeom>
          <a:solidFill>
            <a:srgbClr val="59C777"/>
          </a:solidFill>
          <a:ln w="12700">
            <a:solidFill>
              <a:srgbClr val="59C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81635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59152" y="28620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59C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06424" y="3456432"/>
            <a:ext cx="347472" cy="347472"/>
          </a:xfrm>
          <a:prstGeom prst="ellipse">
            <a:avLst/>
          </a:prstGeom>
          <a:solidFill>
            <a:srgbClr val="F1C84B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4381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59152" y="34838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F1C8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06424" y="4078224"/>
            <a:ext cx="347472" cy="347472"/>
          </a:xfrm>
          <a:prstGeom prst="ellipse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405993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359152" y="41056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06424" y="4700016"/>
            <a:ext cx="347472" cy="347472"/>
          </a:xfrm>
          <a:prstGeom prst="ellipse">
            <a:avLst/>
          </a:prstGeom>
          <a:solidFill>
            <a:srgbClr val="EF5A5A"/>
          </a:solidFill>
          <a:ln w="12700">
            <a:solidFill>
              <a:srgbClr val="EF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468172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59152" y="4727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EF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11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ICR COMEÇA A CAIR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88289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75488" cy="0"/>
          </a:xfrm>
          <a:prstGeom prst="line">
            <a:avLst/>
          </a:prstGeom>
          <a:noFill/>
          <a:ln w="20320">
            <a:solidFill>
              <a:srgbClr val="3A566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4636008" y="288950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degradação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13248" y="2487168"/>
            <a:ext cx="868680" cy="0"/>
          </a:xfrm>
          <a:prstGeom prst="line">
            <a:avLst/>
          </a:prstGeom>
          <a:noFill/>
          <a:ln w="16510">
            <a:solidFill>
              <a:srgbClr val="4C657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52881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2660904"/>
            <a:ext cx="475488" cy="0"/>
          </a:xfrm>
          <a:prstGeom prst="line">
            <a:avLst/>
          </a:prstGeom>
          <a:noFill/>
          <a:ln w="20320">
            <a:solidFill>
              <a:srgbClr val="3A5668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281928" y="288950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locais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059168" y="2487168"/>
            <a:ext cx="868680" cy="0"/>
          </a:xfrm>
          <a:prstGeom prst="line">
            <a:avLst/>
          </a:prstGeom>
          <a:noFill/>
          <a:ln w="16510">
            <a:solidFill>
              <a:srgbClr val="4C6575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17473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8160" y="2660904"/>
            <a:ext cx="475488" cy="0"/>
          </a:xfrm>
          <a:prstGeom prst="line">
            <a:avLst/>
          </a:prstGeom>
          <a:noFill/>
          <a:ln w="20320">
            <a:solidFill>
              <a:srgbClr val="3A5668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7927848" y="288950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contingência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705088" y="2487168"/>
            <a:ext cx="868680" cy="0"/>
          </a:xfrm>
          <a:prstGeom prst="line">
            <a:avLst/>
          </a:prstGeom>
          <a:noFill/>
          <a:ln w="16510">
            <a:solidFill>
              <a:srgbClr val="4C657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82065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784080" y="2660904"/>
            <a:ext cx="475488" cy="0"/>
          </a:xfrm>
          <a:prstGeom prst="line">
            <a:avLst/>
          </a:prstGeom>
          <a:noFill/>
          <a:ln w="20320">
            <a:solidFill>
              <a:srgbClr val="F47A21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9573768" y="288950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EdgeBox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846320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PROBLEMAS, UMA ARQUITETURA.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4828032" y="42793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0D1D29"/>
          </a:solidFill>
          <a:ln w="10160">
            <a:solidFill>
              <a:srgbClr val="274254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6048" y="4453128"/>
            <a:ext cx="292608" cy="29260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321808" y="4425696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6611112" y="42793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0D1D29"/>
          </a:solidFill>
          <a:ln w="10160">
            <a:solidFill>
              <a:srgbClr val="274254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9128" y="4453128"/>
            <a:ext cx="292608" cy="29260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104888" y="4425696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CONECTIVIDADE</a:t>
            </a:r>
            <a:endParaRPr lang="en-US" sz="880" dirty="0"/>
          </a:p>
        </p:txBody>
      </p:sp>
      <p:sp>
        <p:nvSpPr>
          <p:cNvPr id="46" name="Shape 42"/>
          <p:cNvSpPr/>
          <p:nvPr/>
        </p:nvSpPr>
        <p:spPr>
          <a:xfrm>
            <a:off x="8394192" y="42793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0D1D29"/>
          </a:solidFill>
          <a:ln w="10160">
            <a:solidFill>
              <a:srgbClr val="274254"/>
            </a:solidFill>
            <a:prstDash val="solid"/>
          </a:ln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2208" y="4453128"/>
            <a:ext cx="292608" cy="29260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887968" y="4425696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CONTINUIDADE</a:t>
            </a:r>
            <a:endParaRPr lang="en-US" sz="880" dirty="0"/>
          </a:p>
          <a:p>
            <a:pPr marL="0" indent="0" algn="l">
              <a:buNone/>
            </a:pPr>
            <a:r>
              <a:rPr lang="en-US" sz="88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ECONÔMICA</a:t>
            </a:r>
            <a:endParaRPr lang="en-US" sz="880" dirty="0"/>
          </a:p>
        </p:txBody>
      </p:sp>
      <p:sp>
        <p:nvSpPr>
          <p:cNvPr id="49" name="Shape 44"/>
          <p:cNvSpPr/>
          <p:nvPr/>
        </p:nvSpPr>
        <p:spPr>
          <a:xfrm>
            <a:off x="10040112" y="4800600"/>
            <a:ext cx="457200" cy="0"/>
          </a:xfrm>
          <a:prstGeom prst="line">
            <a:avLst/>
          </a:prstGeom>
          <a:noFill/>
          <a:ln w="22860">
            <a:solidFill>
              <a:srgbClr val="F47A21"/>
            </a:solidFill>
            <a:prstDash val="solid"/>
            <a:headEnd type="none"/>
            <a:tailEnd type="triangle"/>
          </a:ln>
        </p:spPr>
      </p:sp>
      <p:sp>
        <p:nvSpPr>
          <p:cNvPr id="50" name="Shape 45"/>
          <p:cNvSpPr/>
          <p:nvPr/>
        </p:nvSpPr>
        <p:spPr>
          <a:xfrm>
            <a:off x="10597896" y="4242816"/>
            <a:ext cx="813816" cy="1124712"/>
          </a:xfrm>
          <a:prstGeom prst="roundRect">
            <a:avLst>
              <a:gd name="adj" fmla="val 8989"/>
            </a:avLst>
          </a:prstGeom>
          <a:solidFill>
            <a:srgbClr val="26170F"/>
          </a:solidFill>
          <a:ln w="10160">
            <a:solidFill>
              <a:srgbClr val="F47A2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10671048" y="454456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INFRA9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4855464" y="5522976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“Não prevê o futuro. Percebe a degradação e se prepara antes da interrupção.”</a:t>
            </a:r>
            <a:endParaRPr lang="en-US" sz="1560" dirty="0"/>
          </a:p>
        </p:txBody>
      </p:sp>
      <p:sp>
        <p:nvSpPr>
          <p:cNvPr id="53" name="Shape 48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54" name="Text 49"/>
          <p:cNvSpPr/>
          <p:nvPr/>
        </p:nvSpPr>
        <p:spPr>
          <a:xfrm>
            <a:off x="566928" y="629107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INOVAÇÃO</a:t>
            </a:r>
            <a:endParaRPr lang="en-US" sz="10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QUEM CONTINUA EM MOVIMENTO?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tecnologia na linguagem. Mais continuidade na vida real.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2249424" cy="0"/>
          </a:xfrm>
          <a:prstGeom prst="line">
            <a:avLst/>
          </a:prstGeom>
          <a:noFill/>
          <a:ln w="17780">
            <a:solidFill>
              <a:srgbClr val="274052"/>
            </a:solidFill>
            <a:prstDash val="solid"/>
            <a:headEnd type="none"/>
            <a:tailEnd type="none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18745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024" y="18288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BEATRIZ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35024" y="211226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Enfermeira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58368" y="2587752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o atendimento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com conexão instável.</a:t>
            </a:r>
            <a:endParaRPr lang="en-US" sz="1340" dirty="0"/>
          </a:p>
        </p:txBody>
      </p:sp>
      <p:sp>
        <p:nvSpPr>
          <p:cNvPr id="9" name="Shape 6"/>
          <p:cNvSpPr/>
          <p:nvPr/>
        </p:nvSpPr>
        <p:spPr>
          <a:xfrm>
            <a:off x="3319272" y="1664208"/>
            <a:ext cx="2249424" cy="0"/>
          </a:xfrm>
          <a:prstGeom prst="line">
            <a:avLst/>
          </a:prstGeom>
          <a:noFill/>
          <a:ln w="17780">
            <a:solidFill>
              <a:srgbClr val="F47A21"/>
            </a:solidFill>
            <a:prstDash val="solid"/>
            <a:headEnd type="none"/>
            <a:tailEnd type="none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272" y="187452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8288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95928" y="211226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Bairro periférico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3319272" y="2587752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Encontra conectividade e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acessa serviços leves.</a:t>
            </a:r>
            <a:endParaRPr lang="en-US" sz="1340" dirty="0"/>
          </a:p>
        </p:txBody>
      </p:sp>
      <p:sp>
        <p:nvSpPr>
          <p:cNvPr id="14" name="Shape 10"/>
          <p:cNvSpPr/>
          <p:nvPr/>
        </p:nvSpPr>
        <p:spPr>
          <a:xfrm>
            <a:off x="5980176" y="1664208"/>
            <a:ext cx="2249424" cy="0"/>
          </a:xfrm>
          <a:prstGeom prst="line">
            <a:avLst/>
          </a:prstGeom>
          <a:noFill/>
          <a:ln w="17780">
            <a:solidFill>
              <a:srgbClr val="274052"/>
            </a:solidFill>
            <a:prstDash val="solid"/>
            <a:headEnd type="none"/>
            <a:tailEnd type="none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0176" y="187452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6832" y="18288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JORGE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656832" y="211226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 comerciante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5980176" y="2587752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vendendo sem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precisar de uma equipe de TI.</a:t>
            </a:r>
            <a:endParaRPr lang="en-US" sz="1340" dirty="0"/>
          </a:p>
        </p:txBody>
      </p:sp>
      <p:sp>
        <p:nvSpPr>
          <p:cNvPr id="19" name="Text 14"/>
          <p:cNvSpPr/>
          <p:nvPr/>
        </p:nvSpPr>
        <p:spPr>
          <a:xfrm>
            <a:off x="658368" y="3703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11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880" dirty="0"/>
          </a:p>
        </p:txBody>
      </p:sp>
      <p:sp>
        <p:nvSpPr>
          <p:cNvPr id="20" name="Text 15"/>
          <p:cNvSpPr/>
          <p:nvPr/>
        </p:nvSpPr>
        <p:spPr>
          <a:xfrm>
            <a:off x="658368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aos serviços</a:t>
            </a:r>
            <a:endParaRPr lang="en-US" sz="960" dirty="0"/>
          </a:p>
        </p:txBody>
      </p:sp>
      <p:sp>
        <p:nvSpPr>
          <p:cNvPr id="21" name="Text 16"/>
          <p:cNvSpPr/>
          <p:nvPr/>
        </p:nvSpPr>
        <p:spPr>
          <a:xfrm>
            <a:off x="2633472" y="3703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11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ECONÔMICO</a:t>
            </a:r>
            <a:endParaRPr lang="en-US" sz="880" dirty="0"/>
          </a:p>
        </p:txBody>
      </p:sp>
      <p:sp>
        <p:nvSpPr>
          <p:cNvPr id="22" name="Text 17"/>
          <p:cNvSpPr/>
          <p:nvPr/>
        </p:nvSpPr>
        <p:spPr>
          <a:xfrm>
            <a:off x="2633472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Continuidade dos negócios</a:t>
            </a:r>
            <a:endParaRPr lang="en-US" sz="960" dirty="0"/>
          </a:p>
        </p:txBody>
      </p:sp>
      <p:sp>
        <p:nvSpPr>
          <p:cNvPr id="23" name="Text 18"/>
          <p:cNvSpPr/>
          <p:nvPr/>
        </p:nvSpPr>
        <p:spPr>
          <a:xfrm>
            <a:off x="4608576" y="3703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110" dirty="0">
                <a:solidFill>
                  <a:srgbClr val="59C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AMBIENTAL</a:t>
            </a:r>
            <a:endParaRPr lang="en-US" sz="880" dirty="0"/>
          </a:p>
        </p:txBody>
      </p:sp>
      <p:sp>
        <p:nvSpPr>
          <p:cNvPr id="24" name="Text 19"/>
          <p:cNvSpPr/>
          <p:nvPr/>
        </p:nvSpPr>
        <p:spPr>
          <a:xfrm>
            <a:off x="4608576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só quando necessária</a:t>
            </a:r>
            <a:endParaRPr lang="en-US" sz="960" dirty="0"/>
          </a:p>
        </p:txBody>
      </p:sp>
      <p:sp>
        <p:nvSpPr>
          <p:cNvPr id="25" name="Text 20"/>
          <p:cNvSpPr/>
          <p:nvPr/>
        </p:nvSpPr>
        <p:spPr>
          <a:xfrm>
            <a:off x="6583680" y="3703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110" dirty="0">
                <a:solidFill>
                  <a:srgbClr val="76C7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880" dirty="0"/>
          </a:p>
        </p:txBody>
      </p:sp>
      <p:sp>
        <p:nvSpPr>
          <p:cNvPr id="26" name="Text 21"/>
          <p:cNvSpPr/>
          <p:nvPr/>
        </p:nvSpPr>
        <p:spPr>
          <a:xfrm>
            <a:off x="6583680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mínimos e protegidos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658368" y="4636008"/>
            <a:ext cx="7635240" cy="0"/>
          </a:xfrm>
          <a:prstGeom prst="line">
            <a:avLst/>
          </a:prstGeom>
          <a:noFill/>
          <a:ln w="1270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28" name="Text 23"/>
          <p:cNvSpPr/>
          <p:nvPr/>
        </p:nvSpPr>
        <p:spPr>
          <a:xfrm>
            <a:off x="658368" y="48188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kern="0" spc="130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INFRA9</a:t>
            </a:r>
            <a:endParaRPr lang="en-US" sz="3400" dirty="0"/>
          </a:p>
        </p:txBody>
      </p:sp>
      <p:sp>
        <p:nvSpPr>
          <p:cNvPr id="29" name="Text 24"/>
          <p:cNvSpPr/>
          <p:nvPr/>
        </p:nvSpPr>
        <p:spPr>
          <a:xfrm>
            <a:off x="2542032" y="4901184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aguenta.  A população acessa.  O comércio continua.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658368" y="5449824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“Quando tudo depende do digital,</a:t>
            </a:r>
            <a:endParaRPr lang="en-US" sz="1950" dirty="0"/>
          </a:p>
          <a:p>
            <a:pPr marL="0" indent="0" algn="l">
              <a:buNone/>
            </a:pP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 o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950" b="1" dirty="0" err="1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colapso</a:t>
            </a:r>
            <a:r>
              <a:rPr lang="en-US" sz="195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950" dirty="0"/>
          </a:p>
        </p:txBody>
      </p:sp>
      <p:sp>
        <p:nvSpPr>
          <p:cNvPr id="32" name="Text 27"/>
          <p:cNvSpPr/>
          <p:nvPr/>
        </p:nvSpPr>
        <p:spPr>
          <a:xfrm>
            <a:off x="9052560" y="405079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 entender como o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Infra9 funciona por dentro?</a:t>
            </a:r>
            <a:endParaRPr lang="en-US" sz="1120" dirty="0"/>
          </a:p>
        </p:txBody>
      </p:sp>
      <p:sp>
        <p:nvSpPr>
          <p:cNvPr id="35" name="Shape 30"/>
          <p:cNvSpPr/>
          <p:nvPr/>
        </p:nvSpPr>
        <p:spPr>
          <a:xfrm>
            <a:off x="9550908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646920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742932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934956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030968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0126980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0222992" y="467258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454896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550908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646920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934956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0030968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126980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222992" y="476859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9454896" y="486460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9646920" y="486460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0030968" y="486460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0126980" y="486460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0222992" y="486460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550908" y="5056632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46920" y="5056632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30968" y="5056632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126980" y="5056632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454896" y="515264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742932" y="515264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9934956" y="515264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0222992" y="5152644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9454896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9550908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646920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742932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9934956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222992" y="5248656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9454896" y="534466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9550908" y="534466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9646920" y="534466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0030968" y="534466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10126980" y="5344668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9454896" y="5440680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550908" y="5440680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46920" y="5440680"/>
            <a:ext cx="96012" cy="96012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9059418" y="579389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à </a:t>
            </a:r>
            <a:r>
              <a:rPr lang="en-US" sz="1000" dirty="0" err="1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</a:t>
            </a:r>
            <a:r>
              <a:rPr lang="en-US" sz="10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81" name="Text 76"/>
          <p:cNvSpPr/>
          <p:nvPr/>
        </p:nvSpPr>
        <p:spPr>
          <a:xfrm>
            <a:off x="566928" y="629107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 INCLUSÃO · ENCERRAMENTO</a:t>
            </a:r>
            <a:endParaRPr lang="en-US" sz="1050" dirty="0"/>
          </a:p>
        </p:txBody>
      </p:sp>
      <p:sp>
        <p:nvSpPr>
          <p:cNvPr id="8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5" name="Imagem 84">
            <a:extLst>
              <a:ext uri="{FF2B5EF4-FFF2-40B4-BE49-F238E27FC236}">
                <a16:creationId xmlns:a16="http://schemas.microsoft.com/office/drawing/2014/main" id="{D4453D9B-9F76-7150-5482-70B10E411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046" y="4530600"/>
            <a:ext cx="1198116" cy="1198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EXTRA · ARQUITETURA TÉCNICA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COMO FUNCIONA POR DENTRO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referência para perguntas da banca.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112638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161848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92024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5144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0253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TRÁFEGO</a:t>
            </a:r>
            <a:endParaRPr lang="en-US" sz="870" dirty="0"/>
          </a:p>
        </p:txBody>
      </p:sp>
      <p:sp>
        <p:nvSpPr>
          <p:cNvPr id="13" name="Shape 9"/>
          <p:cNvSpPr/>
          <p:nvPr/>
        </p:nvSpPr>
        <p:spPr>
          <a:xfrm>
            <a:off x="303580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3756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2464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1985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/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870" dirty="0"/>
          </a:p>
        </p:txBody>
      </p:sp>
      <p:sp>
        <p:nvSpPr>
          <p:cNvPr id="17" name="Shape 12"/>
          <p:cNvSpPr/>
          <p:nvPr/>
        </p:nvSpPr>
        <p:spPr>
          <a:xfrm>
            <a:off x="445312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75488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29784" y="21488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3717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</a:t>
            </a:r>
            <a:endParaRPr lang="en-US" sz="870" dirty="0"/>
          </a:p>
        </p:txBody>
      </p:sp>
      <p:sp>
        <p:nvSpPr>
          <p:cNvPr id="21" name="Shape 15"/>
          <p:cNvSpPr/>
          <p:nvPr/>
        </p:nvSpPr>
        <p:spPr>
          <a:xfrm>
            <a:off x="587044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17220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7104" y="2148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5449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BALANCEAMENTO</a:t>
            </a:r>
            <a:endParaRPr lang="en-US" sz="870" dirty="0"/>
          </a:p>
        </p:txBody>
      </p:sp>
      <p:sp>
        <p:nvSpPr>
          <p:cNvPr id="25" name="Shape 18"/>
          <p:cNvSpPr/>
          <p:nvPr/>
        </p:nvSpPr>
        <p:spPr>
          <a:xfrm>
            <a:off x="728776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58952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4424" y="214884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67181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ELÁSTICOS</a:t>
            </a:r>
            <a:endParaRPr lang="en-US" sz="870" dirty="0"/>
          </a:p>
        </p:txBody>
      </p:sp>
      <p:sp>
        <p:nvSpPr>
          <p:cNvPr id="29" name="Shape 21"/>
          <p:cNvSpPr/>
          <p:nvPr/>
        </p:nvSpPr>
        <p:spPr>
          <a:xfrm>
            <a:off x="870508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900684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1744" y="214884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08913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EXISTENTES</a:t>
            </a:r>
            <a:endParaRPr lang="en-US" sz="870" dirty="0"/>
          </a:p>
        </p:txBody>
      </p:sp>
      <p:sp>
        <p:nvSpPr>
          <p:cNvPr id="33" name="Shape 24"/>
          <p:cNvSpPr/>
          <p:nvPr/>
        </p:nvSpPr>
        <p:spPr>
          <a:xfrm>
            <a:off x="10122408" y="2551176"/>
            <a:ext cx="256032" cy="0"/>
          </a:xfrm>
          <a:prstGeom prst="line">
            <a:avLst/>
          </a:prstGeom>
          <a:noFill/>
          <a:ln w="12700">
            <a:solidFill>
              <a:srgbClr val="456173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10424160" y="1965960"/>
            <a:ext cx="1115568" cy="1170432"/>
          </a:xfrm>
          <a:prstGeom prst="roundRect">
            <a:avLst>
              <a:gd name="adj" fmla="val 5738"/>
            </a:avLst>
          </a:prstGeom>
          <a:solidFill>
            <a:srgbClr val="0D1C29"/>
          </a:solidFill>
          <a:ln w="10160">
            <a:solidFill>
              <a:srgbClr val="2A4557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9064" y="2148840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506456" y="26334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+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RÉPLICAS</a:t>
            </a:r>
            <a:endParaRPr lang="en-US" sz="870" dirty="0"/>
          </a:p>
        </p:txBody>
      </p:sp>
      <p:sp>
        <p:nvSpPr>
          <p:cNvPr id="37" name="Shape 27"/>
          <p:cNvSpPr/>
          <p:nvPr/>
        </p:nvSpPr>
        <p:spPr>
          <a:xfrm>
            <a:off x="658368" y="3803904"/>
            <a:ext cx="4069080" cy="1508760"/>
          </a:xfrm>
          <a:prstGeom prst="roundRect">
            <a:avLst>
              <a:gd name="adj" fmla="val 5455"/>
            </a:avLst>
          </a:prstGeom>
          <a:solidFill>
            <a:srgbClr val="101F2C"/>
          </a:solidFill>
          <a:ln w="10160">
            <a:solidFill>
              <a:srgbClr val="F47A21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112" y="4114800"/>
            <a:ext cx="512064" cy="51206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591056" y="4050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EDGEBOX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1591056" y="4379976"/>
            <a:ext cx="2752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local  ·  aplicação local  ·  fila de sincronização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temporário  ·  monitoramento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4956048" y="4562856"/>
            <a:ext cx="822960" cy="0"/>
          </a:xfrm>
          <a:prstGeom prst="line">
            <a:avLst/>
          </a:prstGeom>
          <a:noFill/>
          <a:ln w="22860">
            <a:solidFill>
              <a:srgbClr val="F47A21"/>
            </a:solidFill>
            <a:prstDash val="solid"/>
            <a:headEnd type="none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5989320" y="3803904"/>
            <a:ext cx="5303520" cy="1508760"/>
          </a:xfrm>
          <a:prstGeom prst="roundRect">
            <a:avLst>
              <a:gd name="adj" fmla="val 5455"/>
            </a:avLst>
          </a:prstGeom>
          <a:solidFill>
            <a:srgbClr val="0A1924"/>
          </a:solidFill>
          <a:ln w="10160">
            <a:solidFill>
              <a:srgbClr val="2A4557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254496" y="40507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INFRA9 CENTRAL</a:t>
            </a:r>
            <a:endParaRPr lang="en-US" sz="1500" dirty="0"/>
          </a:p>
        </p:txBody>
      </p:sp>
      <p:sp>
        <p:nvSpPr>
          <p:cNvPr id="44" name="Text 33"/>
          <p:cNvSpPr/>
          <p:nvPr/>
        </p:nvSpPr>
        <p:spPr>
          <a:xfrm>
            <a:off x="6254496" y="443484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 ·  observabilidade  ·  sincronização  ·  regras de prioridade</a:t>
            </a:r>
            <a:endParaRPr lang="en-US" sz="1040" dirty="0"/>
          </a:p>
        </p:txBody>
      </p:sp>
      <p:sp>
        <p:nvSpPr>
          <p:cNvPr id="45" name="Text 34"/>
          <p:cNvSpPr/>
          <p:nvPr/>
        </p:nvSpPr>
        <p:spPr>
          <a:xfrm>
            <a:off x="6254496" y="484632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EdgeBox ↔ Central: sincronização controlada quando a conectividade retorna.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EXTRA · SEGURANÇA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RESILIÊNCIA SEM ABRIR MÃO DA SEGURANÇA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 de projeto para operar contingência com controle.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30368" y="1938528"/>
            <a:ext cx="1719072" cy="1719072"/>
          </a:xfrm>
          <a:prstGeom prst="ellipse">
            <a:avLst/>
          </a:prstGeom>
          <a:solidFill>
            <a:srgbClr val="0C1C28"/>
          </a:solidFill>
          <a:ln w="12700">
            <a:solidFill>
              <a:srgbClr val="2E4B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0" y="23957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48656" y="3822192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CONTINUIDADE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CONTROLE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3145536" y="2157984"/>
            <a:ext cx="1874520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18288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180136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 por tipo de serviço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3145536" y="3236976"/>
            <a:ext cx="1874520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68" y="29077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288036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mínimos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3145536" y="4315968"/>
            <a:ext cx="1874520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" y="398678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856" y="395935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local temporário</a:t>
            </a:r>
            <a:endParaRPr lang="en-US" sz="1060" dirty="0"/>
          </a:p>
        </p:txBody>
      </p:sp>
      <p:sp>
        <p:nvSpPr>
          <p:cNvPr id="18" name="Shape 12"/>
          <p:cNvSpPr/>
          <p:nvPr/>
        </p:nvSpPr>
        <p:spPr>
          <a:xfrm>
            <a:off x="3145536" y="5394960"/>
            <a:ext cx="1874520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68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3856" y="503834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criptografada</a:t>
            </a:r>
            <a:endParaRPr lang="en-US" sz="1060" dirty="0"/>
          </a:p>
        </p:txBody>
      </p:sp>
      <p:sp>
        <p:nvSpPr>
          <p:cNvPr id="21" name="Shape 14"/>
          <p:cNvSpPr/>
          <p:nvPr/>
        </p:nvSpPr>
        <p:spPr>
          <a:xfrm>
            <a:off x="7178040" y="2157984"/>
            <a:ext cx="1344168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2208" y="1828800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997696" y="180136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acesso</a:t>
            </a:r>
            <a:endParaRPr lang="en-US" sz="1060" dirty="0"/>
          </a:p>
        </p:txBody>
      </p:sp>
      <p:sp>
        <p:nvSpPr>
          <p:cNvPr id="24" name="Shape 16"/>
          <p:cNvSpPr/>
          <p:nvPr/>
        </p:nvSpPr>
        <p:spPr>
          <a:xfrm>
            <a:off x="7178040" y="3236976"/>
            <a:ext cx="1344168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2907792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97696" y="288036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 identificadas</a:t>
            </a:r>
            <a:endParaRPr lang="en-US" sz="1060" dirty="0"/>
          </a:p>
        </p:txBody>
      </p:sp>
      <p:sp>
        <p:nvSpPr>
          <p:cNvPr id="27" name="Shape 18"/>
          <p:cNvSpPr/>
          <p:nvPr/>
        </p:nvSpPr>
        <p:spPr>
          <a:xfrm>
            <a:off x="7178040" y="4315968"/>
            <a:ext cx="1344168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22208" y="3986784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997696" y="395935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Prevenção de duplicidades</a:t>
            </a:r>
            <a:endParaRPr lang="en-US" sz="1060" dirty="0"/>
          </a:p>
        </p:txBody>
      </p:sp>
      <p:sp>
        <p:nvSpPr>
          <p:cNvPr id="30" name="Shape 20"/>
          <p:cNvSpPr/>
          <p:nvPr/>
        </p:nvSpPr>
        <p:spPr>
          <a:xfrm>
            <a:off x="7178040" y="5394960"/>
            <a:ext cx="1344168" cy="0"/>
          </a:xfrm>
          <a:prstGeom prst="line">
            <a:avLst/>
          </a:prstGeom>
          <a:noFill/>
          <a:ln w="12700">
            <a:solidFill>
              <a:srgbClr val="2C485A"/>
            </a:solidFill>
            <a:prstDash val="solid"/>
            <a:headEnd type="none"/>
            <a:tailEnd type="none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2208" y="5065776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97696" y="503834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Equipamentos autenticados</a:t>
            </a:r>
            <a:endParaRPr lang="en-US" sz="1060" dirty="0"/>
          </a:p>
        </p:txBody>
      </p:sp>
      <p:sp>
        <p:nvSpPr>
          <p:cNvPr id="33" name="Text 22"/>
          <p:cNvSpPr/>
          <p:nvPr/>
        </p:nvSpPr>
        <p:spPr>
          <a:xfrm>
            <a:off x="5157216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13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PRINCÍPIO-CHAVE</a:t>
            </a:r>
            <a:endParaRPr lang="en-US" sz="860" dirty="0"/>
          </a:p>
        </p:txBody>
      </p:sp>
      <p:sp>
        <p:nvSpPr>
          <p:cNvPr id="34" name="Text 23"/>
          <p:cNvSpPr/>
          <p:nvPr/>
        </p:nvSpPr>
        <p:spPr>
          <a:xfrm>
            <a:off x="4041648" y="510235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contingência amplia disponibilidade — não reduz requisitos de segurança.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12064"/>
            <a:ext cx="50292" cy="502920"/>
          </a:xfrm>
          <a:prstGeom prst="rect">
            <a:avLst/>
          </a:prstGeom>
          <a:solidFill>
            <a:srgbClr val="F47A21"/>
          </a:solidFill>
          <a:ln w="12700">
            <a:solidFill>
              <a:srgbClr val="F47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12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EXTRA · IMPLANTAÇÃO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AF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COMEÇAR CRÍTICO. EXPANDIR COM SEGURANÇA.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gradual, priorizando onde a continuidade mais importa.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1832" y="2414016"/>
            <a:ext cx="9985248" cy="0"/>
          </a:xfrm>
          <a:prstGeom prst="line">
            <a:avLst/>
          </a:prstGeom>
          <a:noFill/>
          <a:ln w="38100">
            <a:solidFill>
              <a:srgbClr val="31506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78408" y="20848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1832" y="2514600"/>
            <a:ext cx="512064" cy="0"/>
          </a:xfrm>
          <a:prstGeom prst="line">
            <a:avLst/>
          </a:prstGeom>
          <a:noFill/>
          <a:ln w="30480">
            <a:solidFill>
              <a:srgbClr val="F47A2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57784" y="28803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ESSENCIAIS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2459736" y="2240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39896" y="20848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2514600"/>
            <a:ext cx="512064" cy="0"/>
          </a:xfrm>
          <a:prstGeom prst="line">
            <a:avLst/>
          </a:prstGeom>
          <a:noFill/>
          <a:ln w="30480">
            <a:solidFill>
              <a:srgbClr val="FF9C54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319272" y="28803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REGIÕES MAIS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VULNERÁVEIS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221224" y="2240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4" y="20848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C8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4808" y="2514600"/>
            <a:ext cx="512064" cy="0"/>
          </a:xfrm>
          <a:prstGeom prst="line">
            <a:avLst/>
          </a:prstGeom>
          <a:noFill/>
          <a:ln w="30480">
            <a:solidFill>
              <a:srgbClr val="F1C84B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080760" y="28803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NEGÓCIOS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982712" y="2240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20848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9C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26296" y="2514600"/>
            <a:ext cx="512064" cy="0"/>
          </a:xfrm>
          <a:prstGeom prst="line">
            <a:avLst/>
          </a:prstGeom>
          <a:noFill/>
          <a:ln w="30480">
            <a:solidFill>
              <a:srgbClr val="59C777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842248" y="28803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EXPANSÃO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58368" y="3959352"/>
            <a:ext cx="2944368" cy="1417320"/>
          </a:xfrm>
          <a:prstGeom prst="roundRect">
            <a:avLst>
              <a:gd name="adj" fmla="val 5161"/>
            </a:avLst>
          </a:prstGeom>
          <a:solidFill>
            <a:srgbClr val="0D1C29"/>
          </a:solidFill>
          <a:ln w="10160">
            <a:solidFill>
              <a:srgbClr val="294557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4242816"/>
            <a:ext cx="420624" cy="42062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4752" y="41239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80" dirty="0">
                <a:solidFill>
                  <a:srgbClr val="F47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ECONÔMICO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444752" y="4480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Reutilização dos sistemas existentes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capacidade sob demanda.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4142232" y="3959352"/>
            <a:ext cx="2944368" cy="1417320"/>
          </a:xfrm>
          <a:prstGeom prst="roundRect">
            <a:avLst>
              <a:gd name="adj" fmla="val 5161"/>
            </a:avLst>
          </a:prstGeom>
          <a:solidFill>
            <a:srgbClr val="0D1C29"/>
          </a:solidFill>
          <a:ln w="10160">
            <a:solidFill>
              <a:srgbClr val="294557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1688" y="4242816"/>
            <a:ext cx="420624" cy="42062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928616" y="41239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80" dirty="0">
                <a:solidFill>
                  <a:srgbClr val="59C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AMBIENTAL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928616" y="4480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infraestrutura ociosa e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processamento repetido.</a:t>
            </a:r>
            <a:endParaRPr lang="en-US" sz="1030" dirty="0"/>
          </a:p>
        </p:txBody>
      </p:sp>
      <p:sp>
        <p:nvSpPr>
          <p:cNvPr id="30" name="Shape 26"/>
          <p:cNvSpPr/>
          <p:nvPr/>
        </p:nvSpPr>
        <p:spPr>
          <a:xfrm>
            <a:off x="7626096" y="3959352"/>
            <a:ext cx="2944368" cy="1417320"/>
          </a:xfrm>
          <a:prstGeom prst="roundRect">
            <a:avLst>
              <a:gd name="adj" fmla="val 5161"/>
            </a:avLst>
          </a:prstGeom>
          <a:solidFill>
            <a:srgbClr val="0D1C29"/>
          </a:solidFill>
          <a:ln w="10160">
            <a:solidFill>
              <a:srgbClr val="294557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5552" y="4242816"/>
            <a:ext cx="420624" cy="42062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412480" y="41239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80" dirty="0">
                <a:solidFill>
                  <a:srgbClr val="76C7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412480" y="4480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Acesso, conectividade e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inclusão econômica.</a:t>
            </a:r>
            <a:endParaRPr lang="en-US" sz="1030" dirty="0"/>
          </a:p>
        </p:txBody>
      </p:sp>
      <p:sp>
        <p:nvSpPr>
          <p:cNvPr id="34" name="Text 29"/>
          <p:cNvSpPr/>
          <p:nvPr/>
        </p:nvSpPr>
        <p:spPr>
          <a:xfrm>
            <a:off x="658368" y="56509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arquitetura cresce conforme a necessidade — sem exigir uma transformação total de uma só vez.</a:t>
            </a:r>
            <a:endParaRPr lang="en-US" sz="1540" dirty="0"/>
          </a:p>
        </p:txBody>
      </p:sp>
      <p:sp>
        <p:nvSpPr>
          <p:cNvPr id="35" name="Shape 30"/>
          <p:cNvSpPr/>
          <p:nvPr/>
        </p:nvSpPr>
        <p:spPr>
          <a:xfrm>
            <a:off x="566928" y="6199632"/>
            <a:ext cx="11018520" cy="0"/>
          </a:xfrm>
          <a:prstGeom prst="line">
            <a:avLst/>
          </a:prstGeom>
          <a:noFill/>
          <a:ln w="10160">
            <a:solidFill>
              <a:srgbClr val="274052"/>
            </a:solidFill>
            <a:prstDash val="solid"/>
            <a:headEnd type="none"/>
            <a:tailEnd type="none"/>
          </a:ln>
        </p:spPr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8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699</Words>
  <Application>Microsoft Office PowerPoint</Application>
  <PresentationFormat>Widescreen</PresentationFormat>
  <Paragraphs>230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Jornada Acadêmica — ODS 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INFRA9</dc:title>
  <dc:subject>INFRA9 — Plataforma de Resiliência e Continuidade Digital em Situações de Crise</dc:subject>
  <dc:creator>OpenAI</dc:creator>
  <cp:lastModifiedBy>Guilherme Vitor</cp:lastModifiedBy>
  <cp:revision>3</cp:revision>
  <dcterms:created xsi:type="dcterms:W3CDTF">2026-10-08T04:06:10Z</dcterms:created>
  <dcterms:modified xsi:type="dcterms:W3CDTF">2026-10-08T05:44:06Z</dcterms:modified>
</cp:coreProperties>
</file>